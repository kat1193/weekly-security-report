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3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4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drawings/drawing1.xml" ContentType="application/vnd.openxmlformats-officedocument.drawingml.chartshape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0"/>
  </p:notesMasterIdLst>
  <p:sldIdLst>
    <p:sldId id="280" r:id="rId2"/>
    <p:sldId id="465" r:id="rId3"/>
    <p:sldId id="2147481196" r:id="rId4"/>
    <p:sldId id="2147481200" r:id="rId5"/>
    <p:sldId id="2147481201" r:id="rId6"/>
    <p:sldId id="2147481203" r:id="rId7"/>
    <p:sldId id="2147481204" r:id="rId8"/>
    <p:sldId id="2147481205" r:id="rId9"/>
    <p:sldId id="2147481197" r:id="rId10"/>
    <p:sldId id="2147481206" r:id="rId11"/>
    <p:sldId id="2147481221" r:id="rId12"/>
    <p:sldId id="2147481252" r:id="rId13"/>
    <p:sldId id="2147481224" r:id="rId14"/>
    <p:sldId id="2147481225" r:id="rId15"/>
    <p:sldId id="484" r:id="rId16"/>
    <p:sldId id="2147481228" r:id="rId17"/>
    <p:sldId id="2147481248" r:id="rId18"/>
    <p:sldId id="2147481250" r:id="rId19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F6C85A-6A4D-704E-960A-5BC9E954FBA8}">
          <p14:sldIdLst>
            <p14:sldId id="280"/>
            <p14:sldId id="465"/>
          </p14:sldIdLst>
        </p14:section>
        <p14:section name="BRD Analysis" id="{91048E83-EE0F-E842-8108-57084C0A945A}">
          <p14:sldIdLst>
            <p14:sldId id="2147481196"/>
            <p14:sldId id="2147481200"/>
            <p14:sldId id="2147481201"/>
          </p14:sldIdLst>
        </p14:section>
        <p14:section name="KPIs" id="{D042601B-AFF4-2244-B725-8F18A166D344}">
          <p14:sldIdLst>
            <p14:sldId id="2147481203"/>
            <p14:sldId id="2147481204"/>
            <p14:sldId id="2147481205"/>
          </p14:sldIdLst>
        </p14:section>
        <p14:section name="Week 1" id="{44AFEA5B-7B61-644F-A6FA-E3125E7DE7D6}">
          <p14:sldIdLst>
            <p14:sldId id="2147481197"/>
            <p14:sldId id="2147481206"/>
          </p14:sldIdLst>
        </p14:section>
        <p14:section name="Weekly Analysis" id="{293B8C1E-0973-7143-9ED5-711493ED65A3}">
          <p14:sldIdLst>
            <p14:sldId id="2147481221"/>
            <p14:sldId id="2147481252"/>
            <p14:sldId id="2147481224"/>
            <p14:sldId id="2147481225"/>
          </p14:sldIdLst>
        </p14:section>
        <p14:section name="SSDLC Findings" id="{2B6D0A3E-A1DE-3F4D-9CE6-8903E814ED07}">
          <p14:sldIdLst>
            <p14:sldId id="484"/>
            <p14:sldId id="2147481228"/>
            <p14:sldId id="2147481248"/>
          </p14:sldIdLst>
        </p14:section>
        <p14:section name="Total" id="{26EB238C-7FA3-4041-93B7-4E6FB0C700D0}">
          <p14:sldIdLst>
            <p14:sldId id="214748125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27D947-DC58-C1BB-A1D4-FA7C6AE4677A}" name="Eftychia Mistillioglou" initials="EM" userId="S::emistillioglou@census-labs.com::63d67b4c-9707-4cdd-a6d0-43beec0b2f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668FA1-2505-7442-9CA4-D59D0AE14034}" v="2" dt="2026-07-15T10:20:37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5753"/>
  </p:normalViewPr>
  <p:slideViewPr>
    <p:cSldViewPr snapToGrid="0">
      <p:cViewPr varScale="1">
        <p:scale>
          <a:sx n="122" d="100"/>
          <a:sy n="122" d="100"/>
        </p:scale>
        <p:origin x="7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ftychia Mistillioglou" userId="63d67b4c-9707-4cdd-a6d0-43beec0b2f49" providerId="ADAL" clId="{3F4F9CA0-22BA-53AB-9CB2-F1C6ACBC6F0A}"/>
    <pc:docChg chg="custSel modSld">
      <pc:chgData name="Eftychia Mistillioglou" userId="63d67b4c-9707-4cdd-a6d0-43beec0b2f49" providerId="ADAL" clId="{3F4F9CA0-22BA-53AB-9CB2-F1C6ACBC6F0A}" dt="2026-07-15T10:21:15.495" v="12" actId="6549"/>
      <pc:docMkLst>
        <pc:docMk/>
      </pc:docMkLst>
      <pc:sldChg chg="modSp mod">
        <pc:chgData name="Eftychia Mistillioglou" userId="63d67b4c-9707-4cdd-a6d0-43beec0b2f49" providerId="ADAL" clId="{3F4F9CA0-22BA-53AB-9CB2-F1C6ACBC6F0A}" dt="2026-07-15T10:21:15.495" v="12" actId="6549"/>
        <pc:sldMkLst>
          <pc:docMk/>
          <pc:sldMk cId="3398474523" sldId="2147481224"/>
        </pc:sldMkLst>
        <pc:graphicFrameChg chg="modGraphic">
          <ac:chgData name="Eftychia Mistillioglou" userId="63d67b4c-9707-4cdd-a6d0-43beec0b2f49" providerId="ADAL" clId="{3F4F9CA0-22BA-53AB-9CB2-F1C6ACBC6F0A}" dt="2026-07-15T10:21:15.495" v="12" actId="6549"/>
          <ac:graphicFrameMkLst>
            <pc:docMk/>
            <pc:sldMk cId="3398474523" sldId="2147481224"/>
            <ac:graphicFrameMk id="3" creationId="{1877DD78-AA5D-59EB-732A-5D9B6ADF1F18}"/>
          </ac:graphicFrameMkLst>
        </pc:graphicFrameChg>
      </pc:sldChg>
      <pc:sldChg chg="modSp mod">
        <pc:chgData name="Eftychia Mistillioglou" userId="63d67b4c-9707-4cdd-a6d0-43beec0b2f49" providerId="ADAL" clId="{3F4F9CA0-22BA-53AB-9CB2-F1C6ACBC6F0A}" dt="2026-07-15T10:20:37.403" v="5" actId="800"/>
        <pc:sldMkLst>
          <pc:docMk/>
          <pc:sldMk cId="1464800641" sldId="2147481248"/>
        </pc:sldMkLst>
        <pc:graphicFrameChg chg="modGraphic">
          <ac:chgData name="Eftychia Mistillioglou" userId="63d67b4c-9707-4cdd-a6d0-43beec0b2f49" providerId="ADAL" clId="{3F4F9CA0-22BA-53AB-9CB2-F1C6ACBC6F0A}" dt="2026-07-15T10:20:13.518" v="1" actId="6549"/>
          <ac:graphicFrameMkLst>
            <pc:docMk/>
            <pc:sldMk cId="1464800641" sldId="2147481248"/>
            <ac:graphicFrameMk id="3" creationId="{9AAF674B-14F2-165C-772F-4E6AEDF46307}"/>
          </ac:graphicFrameMkLst>
        </pc:graphicFrameChg>
        <pc:graphicFrameChg chg="mod modGraphic">
          <ac:chgData name="Eftychia Mistillioglou" userId="63d67b4c-9707-4cdd-a6d0-43beec0b2f49" providerId="ADAL" clId="{3F4F9CA0-22BA-53AB-9CB2-F1C6ACBC6F0A}" dt="2026-07-15T10:20:37.403" v="5" actId="800"/>
          <ac:graphicFrameMkLst>
            <pc:docMk/>
            <pc:sldMk cId="1464800641" sldId="2147481248"/>
            <ac:graphicFrameMk id="15" creationId="{63E21AF6-5C00-F93A-F16F-4B14A27D7455}"/>
          </ac:graphicFrameMkLst>
        </pc:graphicFrameChg>
      </pc:sldChg>
      <pc:sldChg chg="modSp mod">
        <pc:chgData name="Eftychia Mistillioglou" userId="63d67b4c-9707-4cdd-a6d0-43beec0b2f49" providerId="ADAL" clId="{3F4F9CA0-22BA-53AB-9CB2-F1C6ACBC6F0A}" dt="2026-07-15T10:21:03.059" v="10" actId="27918"/>
        <pc:sldMkLst>
          <pc:docMk/>
          <pc:sldMk cId="3932520252" sldId="2147481250"/>
        </pc:sldMkLst>
        <pc:graphicFrameChg chg="modGraphic">
          <ac:chgData name="Eftychia Mistillioglou" userId="63d67b4c-9707-4cdd-a6d0-43beec0b2f49" providerId="ADAL" clId="{3F4F9CA0-22BA-53AB-9CB2-F1C6ACBC6F0A}" dt="2026-07-15T10:20:56.085" v="7" actId="20577"/>
          <ac:graphicFrameMkLst>
            <pc:docMk/>
            <pc:sldMk cId="3932520252" sldId="2147481250"/>
            <ac:graphicFrameMk id="3" creationId="{CB585242-2060-96C4-DDD7-9C122EA93EC4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chartUserShapes" Target="../drawings/drawing1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Design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15501611375943"/>
          <c:y val="0.14006385516278608"/>
          <c:w val="0.81228440199171947"/>
          <c:h val="0.5098878327062857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Technical Security Requirements Identified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56B3-B14D-B579-06D6C7860F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Technical Security Requirements Implemented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6B3-B14D-B579-06D6C7860F4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Design Threats Identified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6B3-B14D-B579-06D6C7860F4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Design Threats Implemented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6B3-B14D-B579-06D6C7860F4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Design Threats Out of Bound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Design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7E9-EA4D-AE60-D5A590D46E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5.4145983540473695E-2"/>
          <c:y val="0.69250092541899311"/>
          <c:w val="0.91254741504090153"/>
          <c:h val="0.3074990745810068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Build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15501611375943"/>
          <c:y val="0.14006385516278608"/>
          <c:w val="0.81228440199171947"/>
          <c:h val="0.511482458614110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SAST Findings Registered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D9-2F45-A5DF-BCD874B3D1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SAST Findings Remediated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AD9-2F45-A5DF-BCD874B3D1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 Code Reviews Completed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D9-2F45-A5DF-BCD874B3D18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Source Code Review Findings Identified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AD9-2F45-A5DF-BCD874B3D180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Source Code Review Findings Remediated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D9-2F45-A5DF-BCD874B3D180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Technical Tasks Review</c:v>
                </c:pt>
              </c:strCache>
            </c:strRef>
          </c:tx>
          <c:spPr>
            <a:solidFill>
              <a:schemeClr val="accent4">
                <a:lumMod val="40000"/>
                <a:lumOff val="6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Build/Implementation</c:v>
                </c:pt>
              </c:strCache>
            </c:strRef>
          </c:cat>
          <c:val>
            <c:numRef>
              <c:f>Sheet1!$G$2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7184-1540-8B71-F91C96611E0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4.8731385186426328E-2"/>
          <c:y val="0.67478171882990978"/>
          <c:w val="0.88103232088871031"/>
          <c:h val="0.3252182811700902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Testing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34685533344333"/>
          <c:y val="0.14006385516278608"/>
          <c:w val="0.76309256277203563"/>
          <c:h val="0.506248268752695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DevSecOps Toolchain Findings Registered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61AC-6C43-9BFB-53E890FD2F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Findings Discovered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61AC-6C43-9BFB-53E890FD2F6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Security Findings Remediated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4885-4E43-B173-9655E22E812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Findings Accepted/Left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1-4885-4E43-B173-9655E22E8128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SIT Test Cases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lumMod val="110000"/>
                    <a:satMod val="105000"/>
                    <a:tint val="67000"/>
                  </a:schemeClr>
                </a:gs>
                <a:gs pos="50000">
                  <a:schemeClr val="accent5">
                    <a:lumMod val="105000"/>
                    <a:satMod val="103000"/>
                    <a:tint val="73000"/>
                  </a:schemeClr>
                </a:gs>
                <a:gs pos="100000">
                  <a:schemeClr val="accent5">
                    <a:lumMod val="105000"/>
                    <a:satMod val="109000"/>
                    <a:tint val="81000"/>
                  </a:schemeClr>
                </a:gs>
              </a:gsLst>
              <a:lin ang="5400000" scaled="0"/>
            </a:gra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Testing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2-4885-4E43-B173-9655E22E812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  <c:max val="4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6318597525230116E-2"/>
          <c:y val="0.68227047480130421"/>
          <c:w val="0.80311667692029587"/>
          <c:h val="0.294230644968200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Deployment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7734685533344333"/>
          <c:y val="0.14006385516278608"/>
          <c:w val="0.76309256277203563"/>
          <c:h val="0.509429005210897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Deployment Security Findings Identified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Deployment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60-ED4F-9FCD-4FDD4AFAEF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Deployment Security Findings Implemented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Deployment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60-ED4F-9FCD-4FDD4AFAEF9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2816541896414039E-2"/>
          <c:y val="0.70135489355051839"/>
          <c:w val="0.85436691620717187"/>
          <c:h val="0.2986451064494817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cap="none" spc="2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BRD</a:t>
            </a:r>
            <a:r>
              <a:rPr lang="en-US" baseline="0"/>
              <a:t> Analysis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cap="none" spc="2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815501611375943"/>
          <c:y val="0.14006385516278608"/>
          <c:w val="0.81228440199171947"/>
          <c:h val="0.506477682500389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Security Requirements Identified</c:v>
                </c:pt>
              </c:strCache>
            </c:strRef>
          </c:tx>
          <c:spPr>
            <a:solidFill>
              <a:srgbClr val="FF000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BRD Analysis/Solution Outline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5-074E-B4E1-93D2598B12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 Security Requirements Implemented</c:v>
                </c:pt>
              </c:strCache>
            </c:strRef>
          </c:tx>
          <c:spPr>
            <a:solidFill>
              <a:srgbClr val="00B050"/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BRD Analysis/Solution Outline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75-074E-B4E1-93D2598B128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JIRA Tickets Review</c:v>
                </c:pt>
              </c:strCache>
            </c:strRef>
          </c:tx>
          <c:spPr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solidFill>
                <a:schemeClr val="tx1"/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BRD Analysis/Solution Outline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2-7675-074E-B4E1-93D2598B128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45596607"/>
        <c:axId val="1465279904"/>
      </c:barChart>
      <c:catAx>
        <c:axId val="4559660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65279904"/>
        <c:crosses val="autoZero"/>
        <c:auto val="1"/>
        <c:lblAlgn val="ctr"/>
        <c:lblOffset val="100"/>
        <c:noMultiLvlLbl val="0"/>
      </c:catAx>
      <c:valAx>
        <c:axId val="14652799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59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68886136146540289"/>
          <c:w val="0.96858765531263769"/>
          <c:h val="0.3111386385345971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200" b="1" i="0" u="none" strike="noStrike" kern="1200" baseline="0">
                <a:solidFill>
                  <a:prstClr val="black">
                    <a:lumMod val="75000"/>
                    <a:lumOff val="25000"/>
                  </a:prstClr>
                </a:solidFill>
              </a:rPr>
              <a:t>BRD Analysis/Solution Outline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Business Security Requirements Identified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9A-6645-9DDD-23A3A74CA5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Business Security Requirements Implemented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9A-6645-9DDD-23A3A74CA5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User Stories Review</c:v>
                </c:pt>
              </c:strCache>
            </c:strRef>
          </c:tx>
          <c:spPr>
            <a:ln w="31750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9A-6645-9DDD-23A3A74CA50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00486320"/>
        <c:axId val="1100556864"/>
      </c:lineChart>
      <c:catAx>
        <c:axId val="1100486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0556864"/>
        <c:crosses val="autoZero"/>
        <c:auto val="1"/>
        <c:lblAlgn val="ctr"/>
        <c:lblOffset val="100"/>
        <c:noMultiLvlLbl val="0"/>
      </c:catAx>
      <c:valAx>
        <c:axId val="11005568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00486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200" b="1" i="0" u="none" strike="noStrike" kern="1200" baseline="0" dirty="0">
                <a:solidFill>
                  <a:prstClr val="black">
                    <a:lumMod val="75000"/>
                    <a:lumOff val="25000"/>
                  </a:prstClr>
                </a:solidFill>
              </a:rPr>
              <a:t>Design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Design Threats Identified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9A-6645-9DDD-23A3A74CA5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Designs Threats Implemented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9A-6645-9DDD-23A3A74CA50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Design Threats Out Of Bound</c:v>
                </c:pt>
              </c:strCache>
            </c:strRef>
          </c:tx>
          <c:spPr>
            <a:ln w="31750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9A-6645-9DDD-23A3A74CA50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00486320"/>
        <c:axId val="1100556864"/>
      </c:lineChart>
      <c:catAx>
        <c:axId val="1100486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0556864"/>
        <c:crosses val="autoZero"/>
        <c:auto val="1"/>
        <c:lblAlgn val="ctr"/>
        <c:lblOffset val="100"/>
        <c:noMultiLvlLbl val="0"/>
      </c:catAx>
      <c:valAx>
        <c:axId val="11005568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00486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Build/Implementation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SAST Findings Registered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E-FA4D-9572-9A5BF6BCDF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SAST Findings Remediated</c:v>
                </c:pt>
              </c:strCache>
            </c:strRef>
          </c:tx>
          <c:spPr>
            <a:ln w="31750" cap="rnd">
              <a:solidFill>
                <a:srgbClr val="00B05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00B05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E-FA4D-9572-9A5BF6BCDF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Source Code Reviews Completed</c:v>
                </c:pt>
              </c:strCache>
            </c:strRef>
          </c:tx>
          <c:spPr>
            <a:ln w="31750"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41E-FA4D-9572-9A5BF6BCDF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Source Code Review Findings Identified</c:v>
                </c:pt>
              </c:strCache>
            </c:strRef>
          </c:tx>
          <c:spPr>
            <a:ln w="317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C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3E4-DD46-9C86-D370B5E9A83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1991936"/>
        <c:axId val="1864163664"/>
      </c:lineChart>
      <c:catAx>
        <c:axId val="186199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163664"/>
        <c:crosses val="autoZero"/>
        <c:auto val="1"/>
        <c:lblAlgn val="ctr"/>
        <c:lblOffset val="100"/>
        <c:noMultiLvlLbl val="0"/>
      </c:catAx>
      <c:valAx>
        <c:axId val="18641636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6199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Testing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DevSecOps Toolchain Findings Registered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E-FA4D-9572-9A5BF6BCDF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Findings Discovered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237502359664327E-2"/>
                  <c:y val="-9.863832510570611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8</c:v>
                </c:pt>
                <c:pt idx="2">
                  <c:v>11</c:v>
                </c:pt>
                <c:pt idx="3">
                  <c:v>16</c:v>
                </c:pt>
                <c:pt idx="4">
                  <c:v>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E-FA4D-9572-9A5BF6BCDF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Security Findings Remediated</c:v>
                </c:pt>
              </c:strCache>
            </c:strRef>
          </c:tx>
          <c:spPr>
            <a:ln w="3175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B9-BE48-8E57-8CEBA79BC1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Findings Accepted/Left</c:v>
                </c:pt>
              </c:strCache>
            </c:strRef>
          </c:tx>
          <c:spPr>
            <a:ln w="317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</c:spPr>
          </c:marker>
          <c:dLbls>
            <c:delete val="1"/>
          </c:dLbls>
          <c:cat>
            <c:strRef>
              <c:f>Sheet1!$A$2:$A$6</c:f>
              <c:strCache>
                <c:ptCount val="5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2B9-BE48-8E57-8CEBA79BC1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1991936"/>
        <c:axId val="1864163664"/>
      </c:lineChart>
      <c:catAx>
        <c:axId val="186199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163664"/>
        <c:crosses val="autoZero"/>
        <c:auto val="1"/>
        <c:lblAlgn val="ctr"/>
        <c:lblOffset val="100"/>
        <c:noMultiLvlLbl val="0"/>
      </c:catAx>
      <c:valAx>
        <c:axId val="18641636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619919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Testing Metrics Weekly Analysis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DevSecOps Toolchain Findings Registered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41E-FA4D-9572-9A5BF6BCDF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Security Findings Discovered</c:v>
                </c:pt>
              </c:strCache>
            </c:strRef>
          </c:tx>
          <c:spPr>
            <a:ln w="3175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0000"/>
              </a:solidFill>
              <a:ln>
                <a:solidFill>
                  <a:srgbClr val="FF0000"/>
                </a:solidFill>
              </a:ln>
              <a:effectLst/>
            </c:spPr>
          </c:marker>
          <c:dLbls>
            <c:dLbl>
              <c:idx val="4"/>
              <c:layout>
                <c:manualLayout>
                  <c:x val="-2.237502359664327E-2"/>
                  <c:y val="-9.8638325105706113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41E-FA4D-9572-9A5BF6BCDF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Security Findings Remediated</c:v>
                </c:pt>
              </c:strCache>
            </c:strRef>
          </c:tx>
          <c:spPr>
            <a:ln w="3175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dLbls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43-274E-BDCD-ECBD2C2772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2B9-BE48-8E57-8CEBA79BC1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Security Findings Accepted/Left</c:v>
                </c:pt>
              </c:strCache>
            </c:strRef>
          </c:tx>
          <c:spPr>
            <a:ln w="3175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FFC000"/>
              </a:solidFill>
              <a:ln>
                <a:solidFill>
                  <a:srgbClr val="FFC000"/>
                </a:solidFill>
              </a:ln>
              <a:effectLst/>
            </c:spPr>
          </c:marker>
          <c:dLbls>
            <c:delete val="1"/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2B9-BE48-8E57-8CEBA79BC1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SIT Test Cases</c:v>
                </c:pt>
              </c:strCache>
            </c:strRef>
          </c:tx>
          <c:spPr>
            <a:ln w="317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5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25/05 - 29/05</c:v>
                </c:pt>
                <c:pt idx="1">
                  <c:v>01/06 - 05/06</c:v>
                </c:pt>
                <c:pt idx="2">
                  <c:v>08/06 - 12/06</c:v>
                </c:pt>
                <c:pt idx="3">
                  <c:v>15/06 - 19/06</c:v>
                </c:pt>
                <c:pt idx="4">
                  <c:v>22/06 - 26/06</c:v>
                </c:pt>
                <c:pt idx="5">
                  <c:v>29/06 - 03/07</c:v>
                </c:pt>
                <c:pt idx="6">
                  <c:v>06/07 - 10/07</c:v>
                </c:pt>
              </c:strCache>
            </c:strRef>
          </c:cat>
          <c:val>
            <c:numRef>
              <c:f>Sheet1!$F$2:$F$8</c:f>
              <c:numCache>
                <c:formatCode>General</c:formatCode>
                <c:ptCount val="7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72-8A49-859F-0CFEE73E78A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61991936"/>
        <c:axId val="1864163664"/>
      </c:lineChart>
      <c:catAx>
        <c:axId val="186199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4163664"/>
        <c:crosses val="autoZero"/>
        <c:auto val="1"/>
        <c:lblAlgn val="ctr"/>
        <c:lblOffset val="100"/>
        <c:noMultiLvlLbl val="0"/>
      </c:catAx>
      <c:valAx>
        <c:axId val="1864163664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619919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Total Results per phase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Identified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-1.9978260511564041E-17"/>
                  <c:y val="-1.71516124788488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07A-E544-99FA-552D2592B006}"/>
                </c:ext>
              </c:extLst>
            </c:dLbl>
            <c:dLbl>
              <c:idx val="1"/>
              <c:layout>
                <c:manualLayout>
                  <c:x val="1.0897358892073244E-3"/>
                  <c:y val="-2.2975725490729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707A-E544-99FA-552D2592B006}"/>
                </c:ext>
              </c:extLst>
            </c:dLbl>
            <c:dLbl>
              <c:idx val="2"/>
              <c:layout>
                <c:manualLayout>
                  <c:x val="0"/>
                  <c:y val="-1.725050694756324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707A-E544-99FA-552D2592B006}"/>
                </c:ext>
              </c:extLst>
            </c:dLbl>
            <c:dLbl>
              <c:idx val="3"/>
              <c:layout>
                <c:manualLayout>
                  <c:x val="0"/>
                  <c:y val="-2.29757254907298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9949889310291569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707A-E544-99FA-552D2592B006}"/>
                </c:ext>
              </c:extLst>
            </c:dLbl>
            <c:dLbl>
              <c:idx val="4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3276072145664224E-2"/>
                      <c:h val="5.120896219781615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D-707A-E544-99FA-552D2592B0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none" lIns="38100" tIns="19050" rIns="38100" bIns="19050" anchor="t" anchorCtr="0">
                <a:no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Business Security Requirements</c:v>
                </c:pt>
                <c:pt idx="1">
                  <c:v>Design Threats</c:v>
                </c:pt>
                <c:pt idx="2">
                  <c:v>Source Code Reviews</c:v>
                </c:pt>
                <c:pt idx="3">
                  <c:v>Testing Security Findings </c:v>
                </c:pt>
                <c:pt idx="4">
                  <c:v>Deployment Security Findings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0-707A-E544-99FA-552D2592B00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Implemented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0"/>
                  <c:y val="-1.1587664502783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7A-E544-99FA-552D2592B006}"/>
                </c:ext>
              </c:extLst>
            </c:dLbl>
            <c:dLbl>
              <c:idx val="1"/>
              <c:layout>
                <c:manualLayout>
                  <c:x val="0"/>
                  <c:y val="-2.01937515026969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7A-E544-99FA-552D2592B006}"/>
                </c:ext>
              </c:extLst>
            </c:dLbl>
            <c:dLbl>
              <c:idx val="2"/>
              <c:layout>
                <c:manualLayout>
                  <c:x val="-7.9913042046256164E-17"/>
                  <c:y val="-3.75134392139250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07A-E544-99FA-552D2592B006}"/>
                </c:ext>
              </c:extLst>
            </c:dLbl>
            <c:dLbl>
              <c:idx val="3"/>
              <c:layout>
                <c:manualLayout>
                  <c:x val="1.0897358892072444E-3"/>
                  <c:y val="-1.15876645027831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07A-E544-99FA-552D2592B00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Business Security Requirements</c:v>
                </c:pt>
                <c:pt idx="1">
                  <c:v>Design Threats</c:v>
                </c:pt>
                <c:pt idx="2">
                  <c:v>Source Code Reviews</c:v>
                </c:pt>
                <c:pt idx="3">
                  <c:v>Testing Security Findings </c:v>
                </c:pt>
                <c:pt idx="4">
                  <c:v>Deployment Security Findings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8-707A-E544-99FA-552D2592B00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27278400"/>
        <c:axId val="1927277504"/>
        <c:axId val="0"/>
      </c:bar3DChart>
      <c:catAx>
        <c:axId val="1927278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277504"/>
        <c:crosses val="autoZero"/>
        <c:auto val="1"/>
        <c:lblAlgn val="ctr"/>
        <c:lblOffset val="100"/>
        <c:noMultiLvlLbl val="0"/>
      </c:catAx>
      <c:valAx>
        <c:axId val="19272775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27278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6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0.87878</cdr:x>
      <cdr:y>0.67858</cdr:y>
    </cdr:from>
    <cdr:to>
      <cdr:x>0.90764</cdr:x>
      <cdr:y>0.7711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4B8E65D-70E3-CA9A-E792-C0737E4C2B78}"/>
            </a:ext>
          </a:extLst>
        </cdr:cNvPr>
        <cdr:cNvSpPr txBox="1"/>
      </cdr:nvSpPr>
      <cdr:spPr>
        <a:xfrm xmlns:a="http://schemas.openxmlformats.org/drawingml/2006/main">
          <a:off x="10241445" y="2621085"/>
          <a:ext cx="336331" cy="35735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200" b="1" kern="1200" dirty="0">
              <a:solidFill>
                <a:schemeClr val="bg1"/>
              </a:solidFill>
            </a:rPr>
            <a:t>3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810B8-4DD6-7449-98D2-E5A7DAF2BC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27C8CD-FE99-5C44-AFB2-5E566FDC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11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964311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2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512789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CCB0B-EA72-37BC-DB5F-320C0B08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B023C-B7D9-EF88-1831-B79F9391E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8C1F5F-C9BE-55D8-B6FF-4FDA88A709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A3BF0-A25C-A975-3E5E-17127F1DB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70344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44D85-A6B7-2451-4669-68B23C58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A0FE8A-FEF5-B416-E57D-F5B066E52D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E10DA-E5BD-5189-D72A-3691740E4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0791A-4281-1052-E5CE-75C1E94FF1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00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5F688-C164-835C-CDFF-288E71789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6BFE30-E5F2-9232-F803-5641CC0C9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089A6-B175-A71C-B29A-C8D5845F5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8EBA3-5A0A-8804-1AB8-822EF7131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4995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88F6F-EF20-8CC1-3207-23E7FBD55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BD254-15D3-5BA7-0F09-2AD220334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00324-4B4D-3D60-74EC-50FD20DE33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5F56A-73EB-6974-E5F9-BAF6E25576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239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A7F2F-C464-C035-EB56-228505418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AB230-CFD7-6A85-48E8-6587070E7B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27F55A-5D37-FD79-C2DD-7E53A481C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34F17-4E6B-C895-7E3B-4E783C19F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86967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915B1-8CF0-A336-CA3F-DA5BFEE0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225207-93AD-3B50-5D8E-8CD9287C8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5B9A5-616C-5AF5-2D8C-0038CC420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4A115-F8DE-B831-73E9-E9AAC9FF5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7305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6D4F1-7EF4-34F5-342E-F9A29085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3BFAD-A63F-7B73-2B79-ECC9F5EA5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831338-26C1-ECEA-932D-06755B8A1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149FA-7AAA-BA42-A9C2-3608771D65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6312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D46BB-1632-7CDD-26E3-6233CB8FC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B1B5E0-413C-6249-51A7-EFBA39B05A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892DF-C392-DF44-40D8-98E890EDA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06CDD-2285-2603-D9AD-5D97008BE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9426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B4BD3-AB27-589E-C934-CEFDEBA8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4CCFD5-ADDC-292F-A874-36762FCB5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94384-553B-D883-D147-2313E5486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01D58F-5024-CF45-D69B-1B10463E0E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5442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33CB3-94C5-59D2-4F1A-FCF2B9E1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C1756A-2EA8-85BE-EFC8-4E144883A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70FAC-0354-0BFA-4097-7134C2A40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B7C211-D768-8203-4C0A-19CB9B790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581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AE67-35B3-896B-DF95-C99E8480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5AC589-9B3E-282F-1784-8C536377F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A8A7D7-753C-E2C7-22AB-076435174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931CFB-902C-1041-D0F1-30DF3D9B7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38421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B74E7-D270-4DAA-B3E1-A952C02B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5DA22-7831-7929-9E0F-52E794A7A0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6A2A0C-5E5E-37A1-D097-D8109CE56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F550D-8F9D-63ED-B7BC-9B362B157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6490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AD9FF-618C-3D2D-582A-B9ECCCE29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95D40-7802-C1F3-CD37-6097DA818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95802-FC97-2DC0-72FE-0D1736CCE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755CAD-6AFB-1254-6892-F5A9A0E508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15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96902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E6AA2-2144-2C7F-3FD2-70E115232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781C4-DBAE-5145-65DB-02E05EF99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903A1-045B-8569-37A4-0965FCB10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AA8DDA-1F08-630E-D210-BC31FE015B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16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486314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9BA4-17B6-6F00-722D-7D6742B61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50F3E-F43E-A1EC-A1EF-60CF6802A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277FC-EEF3-01A9-27C6-40FBC2D32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5A8A7-BA77-D6C7-BC90-0C964962E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A09F6D-6169-2044-95A4-A6BD784AA7F7}" type="slidenum">
              <a:rPr lang="en-GR" smtClean="0"/>
              <a:t>17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11795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BECD9-3C2E-BC50-8573-C160B77F3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F5ED53-F846-3E82-66CF-09735FF49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87C95-A642-6763-D6F5-DA34040A5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BA30D-1E0E-65AA-D2A7-A38298AB5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A09F6D-6169-2044-95A4-A6BD784AA7F7}" type="slidenum">
              <a:rPr kumimoji="0" lang="en-GR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R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8838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A0569-8ACC-6143-A5EF-471ED8D47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A2B8B-55E4-5746-8AAB-5A107E05A7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0E9D0-7E84-5149-A1FA-0BC9B537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CCD6-2267-1940-9BE3-E8A2FFD7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49783-A120-4242-A5EC-D6920F0A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768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1F03-493D-A245-B748-A8F05ABB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78BEA-93CA-9A46-AB04-C173B52EE3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D26391-A964-AE41-8C3D-E4633DA9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767A6-5A0F-4941-A0DE-34209DC08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66536-09BF-9E43-87AA-6B7118E6F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04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C35E-6B0B-D04C-BACB-028FA920B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3F765-21EA-5A4A-A435-39696EC8D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2CB1B-1A15-B345-9FAB-C25A5DE3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47479-E88D-4B4A-B31B-2FC904749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40781-F689-C54A-9565-4D122ACD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560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190A-F805-BC47-BBEB-2BECD8A40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A229-1D4F-634C-9EB2-D873FDFDF4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B126B-706A-B949-BFE4-05F2E95136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05127-62B8-8248-8C0E-0E4C284603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1452B3-0F11-4147-95F9-83B24E077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CB8AE-9A3F-AC4C-9A67-80473931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02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F1B3C-94E3-4744-B198-049440F4C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FC9B9-DA14-D94A-AB0A-381BB2E52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3B7AD-E095-2444-823B-E7BC9FA44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E660E1-EA38-4943-ADE9-4E8DF48D7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57D4B-B3B7-2B43-A619-622A47A487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8819D2-736F-FC40-9EF3-138A1D0EC9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55448-BE15-D941-9D60-C41A1F0F1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64020F-A829-C145-A4B5-ABC28834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120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FD42D-BDE5-2147-8BAF-C2EB4CAC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7710B3-C9F7-4C4E-8959-2709AD9D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F273BA-228C-0E49-96D3-FC97A4850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F979E-77EB-0044-8B03-91D37FAF1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5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B6FB27-572C-FD41-AD89-079FC1F17C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A7C8AA-0154-D741-BB71-A1F1EAE63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58D79-9D21-D849-BD7E-9CE56967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769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C8786-636E-C741-AC61-FF0B74BEC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58D5E-CD24-854B-8727-52E334F6F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6D84A-FE77-7942-8E69-E6B4FDD1D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D0B91-D3F9-AB40-AB41-B37DD4D357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9656E-BCE9-DF49-9227-CAC67D19D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EE329-1E46-0C47-B698-983F878B3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3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448E4-38A3-594F-A75B-AE8109472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922E8E-A72C-D34C-8593-9899AE966F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A3111-74C4-3D4B-877F-0590CAD47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C25FF-BA9F-B449-9036-BF3A847B6B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CD12D0-E0EB-6C4B-BE61-A91545EB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60A4F-363D-D44E-8711-AA9D1010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30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EF79A-8DD3-F348-9A3A-DF5E44486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511056-C360-3745-8055-76620132E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FE95-1BA7-4042-84A4-D46015C72A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841E9-CD11-7449-98EE-171FF27E0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D8A98-B7F9-B94A-82B2-D7905871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63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651D6-23CE-2B48-8B0A-53B82DA83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2073E-05CB-1045-B012-D42ADBEBC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06DA5-DAB7-6D42-B557-F5F8703B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28243-0842-B741-9FD9-3EE1066DA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AC741-F25B-F746-92CF-7E1B9F49C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955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A987A3-1C9E-9D44-8509-7E1EF3DA7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BD2D0-6424-D84A-8A19-D1BAACDF96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303F2-AF36-344B-B385-104B65B39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979BF-1421-524E-82A2-ACB99629D1A3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46C6B-0984-0244-BEE3-90E744BB6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F7B8D-4478-7345-9700-2E30236A7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EE1EF1-2A6D-364E-886B-00C496F43C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12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hart" Target="../charts/chart4.xml"/><Relationship Id="rId3" Type="http://schemas.openxmlformats.org/officeDocument/2006/relationships/image" Target="../media/image2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image" Target="../media/image3.png"/><Relationship Id="rId9" Type="http://schemas.openxmlformats.org/officeDocument/2006/relationships/chart" Target="../charts/char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E280092-F547-C84C-B92B-035562898DC8}"/>
              </a:ext>
            </a:extLst>
          </p:cNvPr>
          <p:cNvSpPr txBox="1"/>
          <p:nvPr/>
        </p:nvSpPr>
        <p:spPr>
          <a:xfrm>
            <a:off x="217869" y="1981657"/>
            <a:ext cx="6136718" cy="1569660"/>
          </a:xfrm>
          <a:prstGeom prst="rect">
            <a:avLst/>
          </a:prstGeom>
          <a:noFill/>
        </p:spPr>
        <p:txBody>
          <a:bodyPr wrap="square" lIns="0" tIns="45720" rIns="91440" bIns="45720" rtlCol="0" anchor="t">
            <a:spAutoFit/>
          </a:bodyPr>
          <a:lstStyle/>
          <a:p>
            <a:r>
              <a:rPr lang="en-US" sz="4800" b="1" spc="-150" dirty="0">
                <a:latin typeface="Source Sans Pro Semibold" panose="020B0503030403020204" pitchFamily="34" charset="0"/>
              </a:rPr>
              <a:t>Weekly Technical Status Report</a:t>
            </a:r>
            <a:endParaRPr lang="en-US" dirty="0">
              <a:solidFill>
                <a:schemeClr val="bg2">
                  <a:lumMod val="50000"/>
                </a:schemeClr>
              </a:solidFill>
              <a:latin typeface="Source Sans Pro"/>
              <a:ea typeface="Source Sans Pro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843AD5-1FD4-1B45-93E9-2FF49E22C3E7}"/>
              </a:ext>
            </a:extLst>
          </p:cNvPr>
          <p:cNvSpPr txBox="1"/>
          <p:nvPr/>
        </p:nvSpPr>
        <p:spPr>
          <a:xfrm>
            <a:off x="10776520" y="281702"/>
            <a:ext cx="1342675" cy="24622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1000" b="1" err="1">
                <a:solidFill>
                  <a:schemeClr val="tx1">
                    <a:lumMod val="50000"/>
                    <a:lumOff val="50000"/>
                  </a:schemeClr>
                </a:solidFill>
                <a:latin typeface="Source Sans Pro Semibold" panose="020B0503030403020204" pitchFamily="34" charset="0"/>
              </a:rPr>
              <a:t>www.census-labs.com</a:t>
            </a:r>
            <a:endParaRPr lang="en-GR" sz="1000" b="1">
              <a:solidFill>
                <a:schemeClr val="tx1">
                  <a:lumMod val="50000"/>
                  <a:lumOff val="50000"/>
                </a:schemeClr>
              </a:solidFill>
              <a:latin typeface="Source Sans Pro Semibold" panose="020B0503030403020204" pitchFamily="34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C1FBB94-F866-B4B6-8F50-77C7CB7F00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0" y="0"/>
            <a:ext cx="1901952" cy="120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76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C4C0E062-F795-3272-1696-16499DAB9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-2660"/>
            <a:ext cx="2015535" cy="1273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39D4F62-1DD3-FC4A-BAE6-395D76B83F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19ACC2-DAE3-E68E-6422-744CFCDCEEBE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3904E545-CEEA-5A8B-8A47-2EC0BD72B27E}"/>
              </a:ext>
            </a:extLst>
          </p:cNvPr>
          <p:cNvSpPr txBox="1"/>
          <p:nvPr/>
        </p:nvSpPr>
        <p:spPr>
          <a:xfrm>
            <a:off x="2562584" y="1336119"/>
            <a:ext cx="7066832" cy="3877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G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rgbClr val="C00000"/>
                </a:solidFill>
                <a:latin typeface="Aptos" panose="020B0004020202020204" pitchFamily="34" charset="0"/>
                <a:ea typeface="Verdana"/>
                <a:cs typeface="+mn-lt"/>
              </a:rPr>
              <a:t>Agenda</a:t>
            </a:r>
            <a:endParaRPr lang="en-US" sz="4000" b="1">
              <a:solidFill>
                <a:srgbClr val="C00000"/>
              </a:solidFill>
              <a:latin typeface="Aptos" panose="020B0004020202020204" pitchFamily="34" charset="0"/>
              <a:ea typeface="Verdana"/>
              <a:cs typeface="+mn-lt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Business Requirement Document Analysis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Key Performance Indicators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Weekly Status Report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Weekly Analysis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SSDLC Findings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>
                <a:latin typeface="Aptos" panose="020B0004020202020204" pitchFamily="34" charset="0"/>
                <a:ea typeface="Verdana"/>
                <a:cs typeface="+mn-lt"/>
              </a:rPr>
              <a:t>Security Categories</a:t>
            </a:r>
          </a:p>
          <a:p>
            <a:pPr marL="457200" indent="-457200">
              <a:buAutoNum type="arabicPeriod"/>
            </a:pPr>
            <a:endParaRPr lang="en-GR" sz="2000" b="1">
              <a:latin typeface="Aptos" panose="020B000402020202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GR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410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726D-66CE-84E1-071A-419E295A0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9ABC1EB3-E6DC-535B-97EF-F372DA72C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43735" cy="1227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ED4001C-AAAF-782C-714A-93F5C952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B57974-7918-A0AF-D260-0E2649396459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44F6D1-C64A-558D-6C11-E9F9770D9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7089538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0DD8862-869F-3E90-9FA5-69445E55F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12589"/>
              </p:ext>
            </p:extLst>
          </p:nvPr>
        </p:nvGraphicFramePr>
        <p:xfrm>
          <a:off x="268900" y="2432615"/>
          <a:ext cx="11654200" cy="3780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2734811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028164"/>
                    </a:ext>
                  </a:extLst>
                </a:gridCol>
                <a:gridCol w="2938491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Scope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Compliance Requirements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Regulatory requirements (GDPR, CRA, …)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GDPR-Related Data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noStrike">
                          <a:latin typeface="Aptos" panose="020B0004020202020204" pitchFamily="34" charset="0"/>
                        </a:rPr>
                        <a:t>PII Data (Name, email, address, …)</a:t>
                      </a:r>
                      <a:endParaRPr lang="en-AE" sz="1200" strike="noStrike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50777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Sensitive Data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Security policy (Data Classification)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10918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High Risk Transactions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Transactions with monetary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22794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Internal or Public facing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Exposure (internal , 3</a:t>
                      </a:r>
                      <a:r>
                        <a:rPr lang="en-US" sz="1200" b="0" baseline="30000">
                          <a:latin typeface="Aptos" panose="020B0004020202020204" pitchFamily="34" charset="0"/>
                        </a:rPr>
                        <a:t>rd</a:t>
                      </a:r>
                      <a:r>
                        <a:rPr lang="en-US" sz="1200" b="0">
                          <a:latin typeface="Aptos" panose="020B0004020202020204" pitchFamily="34" charset="0"/>
                        </a:rPr>
                        <a:t> party, public)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46830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Reputational Impact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Data breach impact (1 – 5 scoring)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Deployment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On-premises, Cloud-native, Cloud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130912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Authentication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Authentication mechanism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12474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Users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Number of users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962575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Data Storage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Database, repository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1278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Developer Security Awareness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Security Knowledge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37225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3C94E39-0BA7-7B48-2FFB-B0AB6CFD9248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Business Requirements Document Analysis Metrics – Part 1</a:t>
            </a:r>
          </a:p>
        </p:txBody>
      </p:sp>
    </p:spTree>
    <p:extLst>
      <p:ext uri="{BB962C8B-B14F-4D97-AF65-F5344CB8AC3E}">
        <p14:creationId xmlns:p14="http://schemas.microsoft.com/office/powerpoint/2010/main" val="886738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A857D-7F41-5B87-537E-4B4E4A48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8D22B106-F52B-D7EE-3213-F3C1623F8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75944" cy="1248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0E1CF12-5C0E-71CB-12E2-4470B9F992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9142E7-A854-B36D-6D4F-57BABA998D7C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1582E2-6950-090F-2A06-60173EEB31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923272"/>
              </p:ext>
            </p:extLst>
          </p:nvPr>
        </p:nvGraphicFramePr>
        <p:xfrm>
          <a:off x="268900" y="1406295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6D93452-11D4-AC1E-EC4B-4BC772EDB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515974"/>
              </p:ext>
            </p:extLst>
          </p:nvPr>
        </p:nvGraphicFramePr>
        <p:xfrm>
          <a:off x="268900" y="2513340"/>
          <a:ext cx="11654200" cy="2256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2734811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028164"/>
                    </a:ext>
                  </a:extLst>
                </a:gridCol>
                <a:gridCol w="2938491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Scope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Data Types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New data ingested, processed or stored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Sensitive Data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strike="noStrike">
                          <a:latin typeface="Aptos" panose="020B0004020202020204" pitchFamily="34" charset="0"/>
                        </a:rPr>
                        <a:t>Sensitive data change</a:t>
                      </a:r>
                      <a:endParaRPr lang="en-AE" sz="1200" strike="noStrike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50777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Software Libraries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3</a:t>
                      </a:r>
                      <a:r>
                        <a:rPr lang="en-US" sz="1200" baseline="30000">
                          <a:latin typeface="Aptos" panose="020B0004020202020204" pitchFamily="34" charset="0"/>
                        </a:rPr>
                        <a:t>rd</a:t>
                      </a:r>
                      <a:r>
                        <a:rPr lang="en-US" sz="1200">
                          <a:latin typeface="Aptos" panose="020B0004020202020204" pitchFamily="34" charset="0"/>
                        </a:rPr>
                        <a:t> party libraries introduced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10918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User Roles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User Roles introduced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227946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Attack surface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New exposed APIs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46830"/>
                  </a:ext>
                </a:extLst>
              </a:tr>
              <a:tr h="26133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Security Critical Components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Business 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Feature Specific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latin typeface="Aptos" panose="020B0004020202020204" pitchFamily="34" charset="0"/>
                        </a:rPr>
                        <a:t>Changes in Authentication, Encryption…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FE68B64-3342-9A0D-84EC-3FCB014F66EF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Business Requirements Document Analysis Metrics – Part 2</a:t>
            </a:r>
          </a:p>
        </p:txBody>
      </p:sp>
    </p:spTree>
    <p:extLst>
      <p:ext uri="{BB962C8B-B14F-4D97-AF65-F5344CB8AC3E}">
        <p14:creationId xmlns:p14="http://schemas.microsoft.com/office/powerpoint/2010/main" val="1784532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8D7BB-6E3A-266A-8347-9A508F792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FA4F5276-441C-7482-5A0B-F9DA6C18B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85944" cy="12545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44C2508-5A95-F239-AFA0-78B250810A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A4EF42-9F4B-9CEF-8CAE-DA31812C226A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420D4A1-ABBA-8081-2342-9D56CD65A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02366"/>
              </p:ext>
            </p:extLst>
          </p:nvPr>
        </p:nvGraphicFramePr>
        <p:xfrm>
          <a:off x="268900" y="148403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9532EE0-8BF6-7787-BB40-49A059B21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645269"/>
              </p:ext>
            </p:extLst>
          </p:nvPr>
        </p:nvGraphicFramePr>
        <p:xfrm>
          <a:off x="268900" y="2448695"/>
          <a:ext cx="11654200" cy="3127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938491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Score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1485579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Feature specific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Assesses the security score associated with individual application features</a:t>
                      </a:r>
                      <a:endParaRPr kumimoji="0" lang="en-AU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AE" sz="140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1306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Product specific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Evaluates the overall score of an application based on its design, usage, and deployment context</a:t>
                      </a:r>
                      <a:endParaRPr lang="en-AU" sz="14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l-G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6739BCD-A59C-DD2A-034A-ED3D1FB343B9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Business Requirements Document Analysis Metrics – Part 3</a:t>
            </a:r>
          </a:p>
        </p:txBody>
      </p:sp>
    </p:spTree>
    <p:extLst>
      <p:ext uri="{BB962C8B-B14F-4D97-AF65-F5344CB8AC3E}">
        <p14:creationId xmlns:p14="http://schemas.microsoft.com/office/powerpoint/2010/main" val="290195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54066-0428-704F-0793-55874C8AE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C75C3E37-C5CD-E2B3-8214-8F4E9B30B6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43903" cy="122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73D679B-77B8-A77D-0CB9-5C60901B2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FFB236-AC23-8F84-BF00-3A510FFF9B18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A54525C-FD52-33C3-44C0-3B909FE89C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052792"/>
              </p:ext>
            </p:extLst>
          </p:nvPr>
        </p:nvGraphicFramePr>
        <p:xfrm>
          <a:off x="268900" y="1393687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E445414-B7EA-DE02-4760-9ACA46242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2422743"/>
              </p:ext>
            </p:extLst>
          </p:nvPr>
        </p:nvGraphicFramePr>
        <p:xfrm>
          <a:off x="268900" y="2298494"/>
          <a:ext cx="11654200" cy="426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3051678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5373213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312667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483213">
                <a:tc rowSpan="3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BRD Analysis/Solution Outline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Business Security Requirements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requirements registered during BRD Analysis phase into user stories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Business Security Requirements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security requirements into user stories implemented in the source code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342039"/>
                  </a:ext>
                </a:extLst>
              </a:tr>
              <a:tr h="284243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JIRA Tickets Reviewed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JIRA Tickets examined for security considerations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378618"/>
                  </a:ext>
                </a:extLst>
              </a:tr>
              <a:tr h="483213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Security Requirements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technical security requirements captured during system and architecture design</a:t>
                      </a:r>
                      <a:r>
                        <a:rPr kumimoji="0" lang="el-GR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phase into technical tasks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Technical Security Requirements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technical security requirements into technical tasks implemented in the source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85669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 Threats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potential security threats discovered through threat model and architecture reviews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760844"/>
                  </a:ext>
                </a:extLst>
              </a:tr>
              <a:tr h="48321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 Threats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design threats addressed with implemented security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325042"/>
                  </a:ext>
                </a:extLst>
              </a:tr>
              <a:tr h="28424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Design Threats Out of Bound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design threats considered outside the scope of the feature and impact the whole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1647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25870F-40AD-D7E9-0E25-01C80D2F4E86}"/>
              </a:ext>
            </a:extLst>
          </p:cNvPr>
          <p:cNvSpPr txBox="1"/>
          <p:nvPr/>
        </p:nvSpPr>
        <p:spPr>
          <a:xfrm>
            <a:off x="268900" y="817152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Key Performance Indicators – Part 1</a:t>
            </a:r>
          </a:p>
        </p:txBody>
      </p:sp>
    </p:spTree>
    <p:extLst>
      <p:ext uri="{BB962C8B-B14F-4D97-AF65-F5344CB8AC3E}">
        <p14:creationId xmlns:p14="http://schemas.microsoft.com/office/powerpoint/2010/main" val="2283429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7FD1-674C-C10F-553B-6804BA682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36A86D78-0FDB-462D-F4C2-C65EBE806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164620" cy="1367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BDCD513-496B-5758-3B96-1364050A2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49CAF1-4CB9-CB7E-BF81-9E1533B7D209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C06353C-1E5F-B62B-7D16-80A99D5F3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87321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B43C3CB-12DC-33BD-20B5-E62A60F22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846597"/>
              </p:ext>
            </p:extLst>
          </p:nvPr>
        </p:nvGraphicFramePr>
        <p:xfrm>
          <a:off x="268900" y="2496308"/>
          <a:ext cx="11654200" cy="3237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3061617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5363274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293511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453608">
                <a:tc rowSpan="6"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latin typeface="Aptos" panose="020B0004020202020204" pitchFamily="34" charset="0"/>
                        </a:rPr>
                        <a:t>Build</a:t>
                      </a:r>
                      <a:r>
                        <a:rPr lang="el-GR" sz="1400" b="1">
                          <a:latin typeface="Aptos" panose="020B0004020202020204" pitchFamily="34" charset="0"/>
                        </a:rPr>
                        <a:t>/</a:t>
                      </a:r>
                      <a:r>
                        <a:rPr lang="en-US" sz="1400" b="1">
                          <a:latin typeface="Aptos" panose="020B0004020202020204" pitchFamily="34" charset="0"/>
                        </a:rPr>
                        <a:t>Implementation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SAST Findings Registered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findings detected by static application security testing (SAST) tool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4536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SAST Findings Remediated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registered SAST findings resolved through source code fixes or mitigations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1494872"/>
                  </a:ext>
                </a:extLst>
              </a:tr>
              <a:tr h="453608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Source Code Reviews Completed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pull requests that were subject to security source code review 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633267"/>
                  </a:ext>
                </a:extLst>
              </a:tr>
              <a:tr h="311662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Source Code Review Findings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findings registered from security source code reviews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92725"/>
                  </a:ext>
                </a:extLst>
              </a:tr>
              <a:tr h="3116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Source Code Review Findings Remediated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findings discovered during source code review have been remediated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3309150"/>
                  </a:ext>
                </a:extLst>
              </a:tr>
              <a:tr h="311662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AU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Tasks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technical tasks reviewed for security considerations </a:t>
                      </a:r>
                      <a:endParaRPr kumimoji="0" lang="en-AE" sz="1400" b="0" i="0" u="none" strike="noStrike" kern="1200" cap="none" spc="0" normalizeH="0" baseline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45981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E2E4176-58CB-C086-3089-34FDED8B8354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Key Performance Indicators – Part 2</a:t>
            </a:r>
          </a:p>
        </p:txBody>
      </p:sp>
    </p:spTree>
    <p:extLst>
      <p:ext uri="{BB962C8B-B14F-4D97-AF65-F5344CB8AC3E}">
        <p14:creationId xmlns:p14="http://schemas.microsoft.com/office/powerpoint/2010/main" val="250458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5106-BE57-7EB5-DE5F-DF5C95797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8C0E5C25-DAFD-60BF-345D-7E92E5B1D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248703" cy="142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6A7636F-5AB2-580F-DEFB-BF70E1F7F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25B550-B0AA-C395-4079-DE712EED0945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19BB42-707D-42F3-4939-945CC39F86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103724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DF615FCF-7505-F905-69DB-29E5A8D67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16343"/>
              </p:ext>
            </p:extLst>
          </p:nvPr>
        </p:nvGraphicFramePr>
        <p:xfrm>
          <a:off x="268900" y="2453637"/>
          <a:ext cx="11654200" cy="34204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309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3061617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5363274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319883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Category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Metric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Description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49436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Testing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SIT Test Cases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SIT Security Test cases registered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275762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Security Findings Discovered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issues identified through dynamic assessment and review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076076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Security Findings Remediated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discovered security issues resolved through code fixes or mitigations.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986254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Security Findings Accepted/Left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discovered security issues formally accepted as residual risk or left unaddressed.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8442108"/>
                  </a:ext>
                </a:extLst>
              </a:tr>
              <a:tr h="49436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Deployment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Deployment Security Findings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security issues discovered during deployment validation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536411"/>
                  </a:ext>
                </a:extLst>
              </a:tr>
              <a:tr h="49436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400">
                          <a:latin typeface="Aptos" panose="020B0004020202020204" pitchFamily="34" charset="0"/>
                        </a:rPr>
                        <a:t>Deployment Security Findings Implemented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>
                          <a:solidFill>
                            <a:schemeClr val="dk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Number of identified deployment security issues addressed with security controls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79551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8433DD4-0E5E-F83C-5951-8A6D8D598ABF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Key Performance Indicators – Part 3</a:t>
            </a:r>
          </a:p>
        </p:txBody>
      </p:sp>
    </p:spTree>
    <p:extLst>
      <p:ext uri="{BB962C8B-B14F-4D97-AF65-F5344CB8AC3E}">
        <p14:creationId xmlns:p14="http://schemas.microsoft.com/office/powerpoint/2010/main" val="250276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F5882-DC65-CF5A-1B02-1F63856C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5DD6BF03-43D1-5B24-74A2-D37DB3DB4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091048" cy="132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99BBB75-475A-40A6-F57C-413DD8D0A7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65B45DB-5753-8A67-36C1-85A9EB8BD028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E998E19-4E5C-3777-06EF-DBD0720BE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426692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5C38F9-1018-E710-AFAE-9954C185D6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03672"/>
              </p:ext>
            </p:extLst>
          </p:nvPr>
        </p:nvGraphicFramePr>
        <p:xfrm>
          <a:off x="268900" y="2543598"/>
          <a:ext cx="11654200" cy="2730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173">
                  <a:extLst>
                    <a:ext uri="{9D8B030D-6E8A-4147-A177-3AD203B41FA5}">
                      <a16:colId xmlns:a16="http://schemas.microsoft.com/office/drawing/2014/main" val="3781785847"/>
                    </a:ext>
                  </a:extLst>
                </a:gridCol>
                <a:gridCol w="5886475">
                  <a:extLst>
                    <a:ext uri="{9D8B030D-6E8A-4147-A177-3AD203B41FA5}">
                      <a16:colId xmlns:a16="http://schemas.microsoft.com/office/drawing/2014/main" val="1634475225"/>
                    </a:ext>
                  </a:extLst>
                </a:gridCol>
                <a:gridCol w="2868552">
                  <a:extLst>
                    <a:ext uri="{9D8B030D-6E8A-4147-A177-3AD203B41FA5}">
                      <a16:colId xmlns:a16="http://schemas.microsoft.com/office/drawing/2014/main" val="1696924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Categories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ptos" panose="020B0004020202020204" pitchFamily="34" charset="0"/>
                        </a:rPr>
                        <a:t>Engagements</a:t>
                      </a:r>
                      <a:endParaRPr lang="en-AE" sz="16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Status</a:t>
                      </a:r>
                      <a:endParaRPr lang="en-AE" sz="16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84796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latin typeface="Aptos" panose="020B0004020202020204" pitchFamily="34" charset="0"/>
                        </a:rPr>
                        <a:t>Meetings</a:t>
                      </a:r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82952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n-AE" sz="1400" b="1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AU" sz="1400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9148255"/>
                  </a:ext>
                </a:extLst>
              </a:tr>
              <a:tr h="33073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Security Tasks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846025"/>
                  </a:ext>
                </a:extLst>
              </a:tr>
              <a:tr h="33073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507776"/>
                  </a:ext>
                </a:extLst>
              </a:tr>
              <a:tr h="3307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5936956"/>
                  </a:ext>
                </a:extLst>
              </a:tr>
              <a:tr h="33073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187033"/>
                  </a:ext>
                </a:extLst>
              </a:tr>
              <a:tr h="3307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effectLst/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Blocking Points</a:t>
                      </a:r>
                      <a:endParaRPr lang="en-AE" sz="1400" b="1" kern="1200">
                        <a:solidFill>
                          <a:schemeClr val="dk1"/>
                        </a:solidFill>
                        <a:effectLst/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 dirty="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63912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FFBBD27-1825-115A-A168-E857009B1EA3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Status Report</a:t>
            </a:r>
          </a:p>
        </p:txBody>
      </p:sp>
    </p:spTree>
    <p:extLst>
      <p:ext uri="{BB962C8B-B14F-4D97-AF65-F5344CB8AC3E}">
        <p14:creationId xmlns:p14="http://schemas.microsoft.com/office/powerpoint/2010/main" val="1228189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C5C7-CE83-D405-AA0B-687690E50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FCBBFAEE-D97A-0703-A195-A7997254C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43903" cy="1227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2ECE572-2F2A-7401-6F42-119DAD7EE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99D954-7FBD-1166-F587-A237008A2123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7DD89E7-9996-7A46-C174-69E21FF21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908212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sz="1600" b="1" i="0" u="none" strike="noStrike" noProof="0" dirty="0">
                        <a:solidFill>
                          <a:schemeClr val="tx1"/>
                        </a:solidFill>
                        <a:latin typeface="Apto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1A65077-3CF9-8B45-4A77-5799D6DD9AD1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Status Report Metrics</a:t>
            </a: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B798E480-9076-09A4-73D1-DFBD2C7FC7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3327350"/>
              </p:ext>
            </p:extLst>
          </p:nvPr>
        </p:nvGraphicFramePr>
        <p:xfrm>
          <a:off x="2614411" y="2130851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124A59E4-44CF-3C4D-6229-947B894250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4150230"/>
              </p:ext>
            </p:extLst>
          </p:nvPr>
        </p:nvGraphicFramePr>
        <p:xfrm>
          <a:off x="4886567" y="2130851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2C247433-23F0-5849-EC49-333F6FA54C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9002214"/>
              </p:ext>
            </p:extLst>
          </p:nvPr>
        </p:nvGraphicFramePr>
        <p:xfrm>
          <a:off x="7232078" y="2145547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38BAC448-7A21-BD59-096B-E842D6FEEB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32971770"/>
              </p:ext>
            </p:extLst>
          </p:nvPr>
        </p:nvGraphicFramePr>
        <p:xfrm>
          <a:off x="9577589" y="2130851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A5144EC-BC82-D52E-1D21-17EEF4EC2D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258322"/>
              </p:ext>
            </p:extLst>
          </p:nvPr>
        </p:nvGraphicFramePr>
        <p:xfrm>
          <a:off x="268900" y="2290874"/>
          <a:ext cx="2345511" cy="3992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90870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C3102-E7D1-867A-505E-4A4F34DA5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70470499-4F1A-F5D1-3157-7CD2EE4C6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64923" cy="124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662DC1-9114-73D9-6BD4-0675EF93F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BD567A-04C3-75E3-CC61-E9C8025136AF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0BFDDF-05E1-5701-E85A-AB8F1AB46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536677"/>
              </p:ext>
            </p:extLst>
          </p:nvPr>
        </p:nvGraphicFramePr>
        <p:xfrm>
          <a:off x="268898" y="117569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55DFA324-F72B-2D69-83B8-F89A685CD946}"/>
              </a:ext>
            </a:extLst>
          </p:cNvPr>
          <p:cNvSpPr txBox="1"/>
          <p:nvPr/>
        </p:nvSpPr>
        <p:spPr>
          <a:xfrm>
            <a:off x="268898" y="698618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Analysis – BRD Analysis/Solution Outline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122562C-D7BA-7AFB-EA46-2130830EA7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146264"/>
              </p:ext>
            </p:extLst>
          </p:nvPr>
        </p:nvGraphicFramePr>
        <p:xfrm>
          <a:off x="268899" y="2273342"/>
          <a:ext cx="11654199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35690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64CB2-77D1-9F24-D543-AF291F395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F642E663-68F8-E7F5-9E2C-9ECDCB47E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64923" cy="124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6E7008F-4CAD-71ED-5A4F-C0FBEB479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9A1F45-5C80-6468-A78A-1129B4C0DD1E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A506B3F-0C08-B361-5BEB-45F3633FC1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232836"/>
              </p:ext>
            </p:extLst>
          </p:nvPr>
        </p:nvGraphicFramePr>
        <p:xfrm>
          <a:off x="268898" y="117569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C29A5C5-DDF3-4FF1-BDA3-9725974D8A6F}"/>
              </a:ext>
            </a:extLst>
          </p:cNvPr>
          <p:cNvSpPr txBox="1"/>
          <p:nvPr/>
        </p:nvSpPr>
        <p:spPr>
          <a:xfrm>
            <a:off x="268898" y="698618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Weekly Analysis – Design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17BBBB5-53E5-EBAD-C2E4-DCC1B4A9A9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0393606"/>
              </p:ext>
            </p:extLst>
          </p:nvPr>
        </p:nvGraphicFramePr>
        <p:xfrm>
          <a:off x="268899" y="2273342"/>
          <a:ext cx="11654199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136979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33D00-5A15-28E2-F067-CC69C5CAD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3608CAB2-8509-1C8D-8718-12C59C84E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-158638"/>
            <a:ext cx="2004127" cy="1266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DD9409A-F1AC-8670-C950-2F858255F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216993-B341-C585-4C70-1143CCC7E5F2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77DD78-AA5D-59EB-732A-5D9B6ADF1F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4856272"/>
              </p:ext>
            </p:extLst>
          </p:nvPr>
        </p:nvGraphicFramePr>
        <p:xfrm>
          <a:off x="268900" y="1233678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625C0E0-5BEB-62D9-81BF-4CD9342396AF}"/>
              </a:ext>
            </a:extLst>
          </p:cNvPr>
          <p:cNvSpPr txBox="1"/>
          <p:nvPr/>
        </p:nvSpPr>
        <p:spPr>
          <a:xfrm>
            <a:off x="268900" y="756597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Analysis – Build/Implementation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F46D66E-107E-ACBC-B5B3-3FB213062F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6185370"/>
              </p:ext>
            </p:extLst>
          </p:nvPr>
        </p:nvGraphicFramePr>
        <p:xfrm>
          <a:off x="268900" y="2305847"/>
          <a:ext cx="11654200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98474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2F2BC-549B-9C15-491C-25612EE9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09B0196E-5B74-CDD5-F302-A9830EB7A3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1" y="-30317"/>
            <a:ext cx="2312276" cy="146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B8462CC-1939-F686-E90C-B23806368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1FAD99C-21C1-9872-39AA-208625725272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1A1524-22A8-2536-6749-89226677D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9429465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5F88023-C736-FBC9-40F4-B9365D1A7056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Weekly Analysis – Testing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FC011E45-4672-9B1D-E93B-6E7970C4D0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3224569"/>
              </p:ext>
            </p:extLst>
          </p:nvPr>
        </p:nvGraphicFramePr>
        <p:xfrm>
          <a:off x="268900" y="2255715"/>
          <a:ext cx="11654200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C621E8D-717F-C2D0-73B1-5BD6EAFD91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4000185"/>
              </p:ext>
            </p:extLst>
          </p:nvPr>
        </p:nvGraphicFramePr>
        <p:xfrm>
          <a:off x="225783" y="2305847"/>
          <a:ext cx="11654200" cy="3862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4044398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F514C3-428A-2312-D543-40D82500F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968223B3-8D2B-D660-15AF-D567A65E5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2068135" cy="130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6F59EA-6191-0DB3-CDED-7C2C9FF03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6D00F7-4765-1AF4-DBA1-BEA01E05EE85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9517EFE-E775-5E9A-A0C3-567D21EB4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7445443"/>
              </p:ext>
            </p:extLst>
          </p:nvPr>
        </p:nvGraphicFramePr>
        <p:xfrm>
          <a:off x="268899" y="2320290"/>
          <a:ext cx="11654200" cy="3091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3870">
                  <a:extLst>
                    <a:ext uri="{9D8B030D-6E8A-4147-A177-3AD203B41FA5}">
                      <a16:colId xmlns:a16="http://schemas.microsoft.com/office/drawing/2014/main" val="3190130860"/>
                    </a:ext>
                  </a:extLst>
                </a:gridCol>
                <a:gridCol w="7060330">
                  <a:extLst>
                    <a:ext uri="{9D8B030D-6E8A-4147-A177-3AD203B41FA5}">
                      <a16:colId xmlns:a16="http://schemas.microsoft.com/office/drawing/2014/main" val="2975983542"/>
                    </a:ext>
                  </a:extLst>
                </a:gridCol>
              </a:tblGrid>
              <a:tr h="506833"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Columns</a:t>
                      </a:r>
                      <a:endParaRPr lang="en-AE" sz="14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latin typeface="Aptos"/>
                        </a:rPr>
                        <a:t>Description</a:t>
                      </a:r>
                      <a:endParaRPr lang="en-AE" sz="14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31139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>
                          <a:latin typeface="Aptos"/>
                        </a:rPr>
                        <a:t>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Finding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045042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>
                          <a:latin typeface="Aptos"/>
                        </a:rPr>
                        <a:t>Azure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/>
                        <a:t>Azure DevOps generated ID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421859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Title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Finding title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203722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Source code review (S) or Dynamic analysis methodology (D)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305904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Risk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OWASP Risk Rating associated risk rating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397890"/>
                  </a:ext>
                </a:extLst>
              </a:tr>
              <a:tr h="43080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/>
                        <a:t>Mitigation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400"/>
                        <a:t>Status of Mitigation during pilot phase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312387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729DE95-4C22-AE5A-2940-4D82BACDF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947721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7EECA3-504A-9CBE-AEE0-E2A81170EC95}"/>
              </a:ext>
            </a:extLst>
          </p:cNvPr>
          <p:cNvSpPr txBox="1"/>
          <p:nvPr/>
        </p:nvSpPr>
        <p:spPr>
          <a:xfrm>
            <a:off x="268899" y="65274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SSDLC Findings – Part 1</a:t>
            </a:r>
          </a:p>
        </p:txBody>
      </p:sp>
    </p:spTree>
    <p:extLst>
      <p:ext uri="{BB962C8B-B14F-4D97-AF65-F5344CB8AC3E}">
        <p14:creationId xmlns:p14="http://schemas.microsoft.com/office/powerpoint/2010/main" val="25333627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09112-4DC0-AF78-A537-6C5EB0EA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E564A708-B903-3349-C8B2-BD7EF4F1E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76695" cy="124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BA9C730-C0D8-A15E-0999-4974A85387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C6F7565-848A-8438-0F72-24182D44B9E4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28DBD4F-F4AB-7D6A-DF16-D2A8B1AD1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003388"/>
              </p:ext>
            </p:extLst>
          </p:nvPr>
        </p:nvGraphicFramePr>
        <p:xfrm>
          <a:off x="265814" y="2320290"/>
          <a:ext cx="11657288" cy="3793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84">
                  <a:extLst>
                    <a:ext uri="{9D8B030D-6E8A-4147-A177-3AD203B41FA5}">
                      <a16:colId xmlns:a16="http://schemas.microsoft.com/office/drawing/2014/main" val="3190130860"/>
                    </a:ext>
                  </a:extLst>
                </a:gridCol>
                <a:gridCol w="938019">
                  <a:extLst>
                    <a:ext uri="{9D8B030D-6E8A-4147-A177-3AD203B41FA5}">
                      <a16:colId xmlns:a16="http://schemas.microsoft.com/office/drawing/2014/main" val="2975983542"/>
                    </a:ext>
                  </a:extLst>
                </a:gridCol>
                <a:gridCol w="1471449">
                  <a:extLst>
                    <a:ext uri="{9D8B030D-6E8A-4147-A177-3AD203B41FA5}">
                      <a16:colId xmlns:a16="http://schemas.microsoft.com/office/drawing/2014/main" val="1928007573"/>
                    </a:ext>
                  </a:extLst>
                </a:gridCol>
                <a:gridCol w="4645572">
                  <a:extLst>
                    <a:ext uri="{9D8B030D-6E8A-4147-A177-3AD203B41FA5}">
                      <a16:colId xmlns:a16="http://schemas.microsoft.com/office/drawing/2014/main" val="3706965865"/>
                    </a:ext>
                  </a:extLst>
                </a:gridCol>
                <a:gridCol w="1284403">
                  <a:extLst>
                    <a:ext uri="{9D8B030D-6E8A-4147-A177-3AD203B41FA5}">
                      <a16:colId xmlns:a16="http://schemas.microsoft.com/office/drawing/2014/main" val="3415823068"/>
                    </a:ext>
                  </a:extLst>
                </a:gridCol>
                <a:gridCol w="1386629">
                  <a:extLst>
                    <a:ext uri="{9D8B030D-6E8A-4147-A177-3AD203B41FA5}">
                      <a16:colId xmlns:a16="http://schemas.microsoft.com/office/drawing/2014/main" val="4008027325"/>
                    </a:ext>
                  </a:extLst>
                </a:gridCol>
                <a:gridCol w="1390332">
                  <a:extLst>
                    <a:ext uri="{9D8B030D-6E8A-4147-A177-3AD203B41FA5}">
                      <a16:colId xmlns:a16="http://schemas.microsoft.com/office/drawing/2014/main" val="3161033864"/>
                    </a:ext>
                  </a:extLst>
                </a:gridCol>
              </a:tblGrid>
              <a:tr h="36655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latin typeface="Aptos" panose="020B0004020202020204" pitchFamily="34" charset="0"/>
                        </a:rPr>
                        <a:t>ID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Jira ID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 panose="020B0004020202020204" pitchFamily="34" charset="0"/>
                        </a:rPr>
                        <a:t>Category</a:t>
                      </a:r>
                      <a:endParaRPr lang="en-AE" sz="1200">
                        <a:latin typeface="Aptos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Title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Method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Risk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Mitigation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311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85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39158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22376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en-US" sz="1200"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550294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6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762595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91561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756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70746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513513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00" dirty="0">
                        <a:effectLst/>
                        <a:latin typeface="+mn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880435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4AE29D-815B-486B-7DAE-9F3E5BFC0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576688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27F9E1E-20EF-7CDF-952F-B79FAE572651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SSDLC Findings – Part 2</a:t>
            </a:r>
          </a:p>
        </p:txBody>
      </p:sp>
    </p:spTree>
    <p:extLst>
      <p:ext uri="{BB962C8B-B14F-4D97-AF65-F5344CB8AC3E}">
        <p14:creationId xmlns:p14="http://schemas.microsoft.com/office/powerpoint/2010/main" val="2375124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9CDFB-CD42-76FC-1B39-82D46693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1613AFC5-14E3-7F8C-3AD0-74ACD30BA5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885255" cy="119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61D9FD-A08B-E957-57B7-DE142C164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78AAE1-8378-A16B-7219-8E371EC14D0F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85766">
              <a:defRPr/>
            </a:pPr>
            <a:r>
              <a:rPr lang="en-GB" sz="1400" b="1">
                <a:solidFill>
                  <a:srgbClr val="BD151C"/>
                </a:solidFill>
                <a:latin typeface="Calibri" panose="020F0502020204030204"/>
              </a:rPr>
              <a:t>Confidential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63E21AF6-5C00-F93A-F16F-4B14A27D74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95412"/>
              </p:ext>
            </p:extLst>
          </p:nvPr>
        </p:nvGraphicFramePr>
        <p:xfrm>
          <a:off x="265814" y="2320290"/>
          <a:ext cx="11657288" cy="317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884">
                  <a:extLst>
                    <a:ext uri="{9D8B030D-6E8A-4147-A177-3AD203B41FA5}">
                      <a16:colId xmlns:a16="http://schemas.microsoft.com/office/drawing/2014/main" val="3190130860"/>
                    </a:ext>
                  </a:extLst>
                </a:gridCol>
                <a:gridCol w="875248">
                  <a:extLst>
                    <a:ext uri="{9D8B030D-6E8A-4147-A177-3AD203B41FA5}">
                      <a16:colId xmlns:a16="http://schemas.microsoft.com/office/drawing/2014/main" val="2975983542"/>
                    </a:ext>
                  </a:extLst>
                </a:gridCol>
                <a:gridCol w="1544730">
                  <a:extLst>
                    <a:ext uri="{9D8B030D-6E8A-4147-A177-3AD203B41FA5}">
                      <a16:colId xmlns:a16="http://schemas.microsoft.com/office/drawing/2014/main" val="3265491980"/>
                    </a:ext>
                  </a:extLst>
                </a:gridCol>
                <a:gridCol w="4656083">
                  <a:extLst>
                    <a:ext uri="{9D8B030D-6E8A-4147-A177-3AD203B41FA5}">
                      <a16:colId xmlns:a16="http://schemas.microsoft.com/office/drawing/2014/main" val="3706965865"/>
                    </a:ext>
                  </a:extLst>
                </a:gridCol>
                <a:gridCol w="1263382">
                  <a:extLst>
                    <a:ext uri="{9D8B030D-6E8A-4147-A177-3AD203B41FA5}">
                      <a16:colId xmlns:a16="http://schemas.microsoft.com/office/drawing/2014/main" val="3415823068"/>
                    </a:ext>
                  </a:extLst>
                </a:gridCol>
                <a:gridCol w="1386629">
                  <a:extLst>
                    <a:ext uri="{9D8B030D-6E8A-4147-A177-3AD203B41FA5}">
                      <a16:colId xmlns:a16="http://schemas.microsoft.com/office/drawing/2014/main" val="4008027325"/>
                    </a:ext>
                  </a:extLst>
                </a:gridCol>
                <a:gridCol w="1390332">
                  <a:extLst>
                    <a:ext uri="{9D8B030D-6E8A-4147-A177-3AD203B41FA5}">
                      <a16:colId xmlns:a16="http://schemas.microsoft.com/office/drawing/2014/main" val="3161033864"/>
                    </a:ext>
                  </a:extLst>
                </a:gridCol>
              </a:tblGrid>
              <a:tr h="36655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/>
                        </a:rPr>
                        <a:t>ID</a:t>
                      </a:r>
                      <a:endParaRPr lang="en-AE" sz="12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/>
                        </a:rPr>
                        <a:t>Jira ID</a:t>
                      </a:r>
                      <a:endParaRPr lang="en-AE" sz="12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Aptos"/>
                        </a:rPr>
                        <a:t>Category</a:t>
                      </a:r>
                      <a:endParaRPr lang="en-AE" sz="1200">
                        <a:latin typeface="Apto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Title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Method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Risk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Aptos"/>
                          <a:ea typeface="+mn-ea"/>
                          <a:cs typeface="+mn-cs"/>
                        </a:rPr>
                        <a:t>Mitigation</a:t>
                      </a:r>
                      <a:endParaRPr lang="en-AE" sz="1200" b="1" kern="1200">
                        <a:solidFill>
                          <a:schemeClr val="lt1"/>
                        </a:solidFill>
                        <a:latin typeface="Aptos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1311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785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39158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622376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550294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639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762595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915617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756602"/>
                  </a:ext>
                </a:extLst>
              </a:tr>
              <a:tr h="311570"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fontAlgn="base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2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/>
                        <a:ea typeface="Calibri" panose="020F0502020204030204" pitchFamily="34" charset="0"/>
                        <a:cs typeface="Calibri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416027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AF674B-14F2-165C-772F-4E6AEDF463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018993"/>
              </p:ext>
            </p:extLst>
          </p:nvPr>
        </p:nvGraphicFramePr>
        <p:xfrm>
          <a:off x="268900" y="1340914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F97E67A-71B5-0F6E-92C3-5560A17DD22E}"/>
              </a:ext>
            </a:extLst>
          </p:cNvPr>
          <p:cNvSpPr txBox="1"/>
          <p:nvPr/>
        </p:nvSpPr>
        <p:spPr>
          <a:xfrm>
            <a:off x="268900" y="864553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latin typeface="Aptos" panose="020B0004020202020204" pitchFamily="34" charset="0"/>
              </a:rPr>
              <a:t>SSDLC Findings – Part 3</a:t>
            </a:r>
          </a:p>
        </p:txBody>
      </p:sp>
    </p:spTree>
    <p:extLst>
      <p:ext uri="{BB962C8B-B14F-4D97-AF65-F5344CB8AC3E}">
        <p14:creationId xmlns:p14="http://schemas.microsoft.com/office/powerpoint/2010/main" val="1464800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AA80-C1BB-A062-D32E-D8BDBDACF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>
            <a:extLst>
              <a:ext uri="{FF2B5EF4-FFF2-40B4-BE49-F238E27FC236}">
                <a16:creationId xmlns:a16="http://schemas.microsoft.com/office/drawing/2014/main" id="{9596AAC9-664F-F90D-B1F0-D22010BE8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0" y="0"/>
            <a:ext cx="1964923" cy="124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880786-7B77-1F17-CD7E-7043E0D1E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050" y="5734050"/>
            <a:ext cx="1123950" cy="1123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683FEC-8B18-6D5F-1BFF-F7F4F078841F}"/>
              </a:ext>
            </a:extLst>
          </p:cNvPr>
          <p:cNvSpPr txBox="1"/>
          <p:nvPr/>
        </p:nvSpPr>
        <p:spPr>
          <a:xfrm>
            <a:off x="3899756" y="326169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68576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srgbClr val="BD151C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B585242-2060-96C4-DDD7-9C122EA93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7592219"/>
              </p:ext>
            </p:extLst>
          </p:nvPr>
        </p:nvGraphicFramePr>
        <p:xfrm>
          <a:off x="268898" y="1175699"/>
          <a:ext cx="11654200" cy="789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76">
                  <a:extLst>
                    <a:ext uri="{9D8B030D-6E8A-4147-A177-3AD203B41FA5}">
                      <a16:colId xmlns:a16="http://schemas.microsoft.com/office/drawing/2014/main" val="1214784859"/>
                    </a:ext>
                  </a:extLst>
                </a:gridCol>
                <a:gridCol w="2642532">
                  <a:extLst>
                    <a:ext uri="{9D8B030D-6E8A-4147-A177-3AD203B41FA5}">
                      <a16:colId xmlns:a16="http://schemas.microsoft.com/office/drawing/2014/main" val="899285289"/>
                    </a:ext>
                  </a:extLst>
                </a:gridCol>
                <a:gridCol w="2416030">
                  <a:extLst>
                    <a:ext uri="{9D8B030D-6E8A-4147-A177-3AD203B41FA5}">
                      <a16:colId xmlns:a16="http://schemas.microsoft.com/office/drawing/2014/main" val="1266780674"/>
                    </a:ext>
                  </a:extLst>
                </a:gridCol>
                <a:gridCol w="2751589">
                  <a:extLst>
                    <a:ext uri="{9D8B030D-6E8A-4147-A177-3AD203B41FA5}">
                      <a16:colId xmlns:a16="http://schemas.microsoft.com/office/drawing/2014/main" val="3611730717"/>
                    </a:ext>
                  </a:extLst>
                </a:gridCol>
                <a:gridCol w="1503973">
                  <a:extLst>
                    <a:ext uri="{9D8B030D-6E8A-4147-A177-3AD203B41FA5}">
                      <a16:colId xmlns:a16="http://schemas.microsoft.com/office/drawing/2014/main" val="156755385"/>
                    </a:ext>
                  </a:extLst>
                </a:gridCol>
              </a:tblGrid>
              <a:tr h="419097">
                <a:tc>
                  <a:txBody>
                    <a:bodyPr/>
                    <a:lstStyle/>
                    <a:p>
                      <a:r>
                        <a:rPr lang="en-US" sz="1800">
                          <a:latin typeface="Aptos" panose="020B0004020202020204" pitchFamily="34" charset="0"/>
                        </a:rPr>
                        <a:t>Project Name</a:t>
                      </a:r>
                      <a:endParaRPr lang="en-AE" sz="1800"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E" sz="1600">
                        <a:solidFill>
                          <a:schemeClr val="tx1"/>
                        </a:solidFill>
                        <a:latin typeface="Aptos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Technical PM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Week</a:t>
                      </a:r>
                      <a:endParaRPr lang="en-A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07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Project Code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Resource</a:t>
                      </a:r>
                      <a:endParaRPr lang="en-AE" sz="1800" b="1" kern="1200">
                        <a:solidFill>
                          <a:schemeClr val="lt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kern="1200">
                          <a:solidFill>
                            <a:schemeClr val="tx1"/>
                          </a:solidFill>
                          <a:latin typeface="Aptos" panose="020B0004020202020204" pitchFamily="34" charset="0"/>
                          <a:ea typeface="+mn-ea"/>
                          <a:cs typeface="+mn-cs"/>
                        </a:rPr>
                        <a:t>-</a:t>
                      </a:r>
                      <a:endParaRPr lang="en-AE" sz="1600" b="1" kern="1200">
                        <a:solidFill>
                          <a:schemeClr val="tx1"/>
                        </a:solidFill>
                        <a:latin typeface="Aptos" panose="020B00040202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n-AE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1675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308C782-24CD-3850-C94B-178A047C85BB}"/>
              </a:ext>
            </a:extLst>
          </p:cNvPr>
          <p:cNvSpPr txBox="1"/>
          <p:nvPr/>
        </p:nvSpPr>
        <p:spPr>
          <a:xfrm>
            <a:off x="268898" y="698618"/>
            <a:ext cx="115679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ptos" panose="020B0004020202020204" pitchFamily="34" charset="0"/>
              </a:rPr>
              <a:t>Total Results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2B05B048-1D60-CA56-FE30-C8E6A96E57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9739762"/>
              </p:ext>
            </p:extLst>
          </p:nvPr>
        </p:nvGraphicFramePr>
        <p:xfrm>
          <a:off x="268898" y="2123091"/>
          <a:ext cx="11654200" cy="4408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93252025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54DDEE85-F434-724A-899D-33B2A71C1053}" vid="{FC6DF86D-F229-6342-AB2B-F6BF9A0F86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11284</TotalTime>
  <Words>962</Words>
  <Application>Microsoft Macintosh PowerPoint</Application>
  <PresentationFormat>Widescreen</PresentationFormat>
  <Paragraphs>350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Calibri</vt:lpstr>
      <vt:lpstr>Calibri Light</vt:lpstr>
      <vt:lpstr>Source Sans Pro</vt:lpstr>
      <vt:lpstr>Source Sans Pro Semibold</vt:lpstr>
      <vt:lpstr>Verdana</vt:lpstr>
      <vt:lpstr>Theme2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Eftychia Mistillioglou</dc:creator>
  <cp:lastModifiedBy>Eftychia Mistillioglou</cp:lastModifiedBy>
  <cp:revision>42</cp:revision>
  <dcterms:created xsi:type="dcterms:W3CDTF">2026-02-26T12:37:17Z</dcterms:created>
  <dcterms:modified xsi:type="dcterms:W3CDTF">2026-07-15T10:21:17Z</dcterms:modified>
</cp:coreProperties>
</file>